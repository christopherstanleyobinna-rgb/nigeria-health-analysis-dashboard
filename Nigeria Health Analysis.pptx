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1E700B27-DE4C-4B9E-BB11-B9027034A00F}" type="datetimeFigureOut">
              <a:rPr lang="en-US" dirty="0"/>
              <a:pPr/>
              <a:t>3/9/2026</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r>
              <a:rPr lang="en-US" dirty="0"/>
              <a:t>
              </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C51FCE-E4BB-4680-8E50-3C0E348D2609}" type="datetimeFigureOut">
              <a:rPr lang="en-US" dirty="0"/>
              <a:t>3/9/2026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dirty="0"/>
              <a:t>3/9/2026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dirty="0"/>
              <a:t>3/9/2026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dirty="0"/>
              <a:t>3/9/2026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dirty="0"/>
              <a:t>3/9/2026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dirty="0"/>
              <a:t>3/9/2026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665CEB-0076-4E37-B880-BCEA9784DE0A}" type="datetimeFigureOut">
              <a:rPr lang="en-US" dirty="0"/>
              <a:t>3/9/2026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dirty="0"/>
              <a:t>3/9/2026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0F4739-9812-4A9F-890D-2AD6BA5F6EE8}" type="datetimeFigureOut">
              <a:rPr lang="en-US" dirty="0"/>
              <a:t>3/9/2026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8845AC5-A3F8-44AA-BA8F-596CDCC976D3}" type="datetimeFigureOut">
              <a:rPr lang="en-US" dirty="0"/>
              <a:t>3/9/2026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873B183-A821-4095-A363-9EC968635539}" type="datetimeFigureOut">
              <a:rPr lang="en-US" dirty="0"/>
              <a:t>3/9/2026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4D01B4-0AA5-45E6-B2E6-5FA4078AEBCF}" type="datetimeFigureOut">
              <a:rPr lang="en-US" dirty="0"/>
              <a:t>3/9/2026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47335C-0450-40D7-8612-B3203BED4F28}" type="datetimeFigureOut">
              <a:rPr lang="en-US" dirty="0"/>
              <a:t>3/9/2026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46A105-2A1C-4284-B4EA-07CF89B1A393}" type="datetimeFigureOut">
              <a:rPr lang="en-US" dirty="0"/>
              <a:t>3/9/2026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dirty="0"/>
              <a:t>3/9/2026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dirty="0"/>
              <a:t>3/9/2026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E0D914D-B099-4142-A885-11F276715148}" type="datetimeFigureOut">
              <a:rPr lang="en-US" dirty="0"/>
              <a:t>3/9/2026</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r>
              <a:rPr lang="en-US" dirty="0"/>
              <a:t>
              </a:t>
            </a:r>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5EB1F-A0A0-C3CD-E1CC-99FBD89D744B}"/>
              </a:ext>
            </a:extLst>
          </p:cNvPr>
          <p:cNvSpPr>
            <a:spLocks noGrp="1"/>
          </p:cNvSpPr>
          <p:nvPr>
            <p:ph type="ctrTitle"/>
          </p:nvPr>
        </p:nvSpPr>
        <p:spPr>
          <a:xfrm>
            <a:off x="704789" y="618978"/>
            <a:ext cx="8825658" cy="1885072"/>
          </a:xfrm>
        </p:spPr>
        <p:txBody>
          <a:bodyPr/>
          <a:lstStyle/>
          <a:p>
            <a:r>
              <a:rPr lang="en-US" sz="6600" b="1" dirty="0"/>
              <a:t>Nigeria Health Analysis</a:t>
            </a:r>
          </a:p>
        </p:txBody>
      </p:sp>
      <p:pic>
        <p:nvPicPr>
          <p:cNvPr id="6" name="Picture 5">
            <a:extLst>
              <a:ext uri="{FF2B5EF4-FFF2-40B4-BE49-F238E27FC236}">
                <a16:creationId xmlns:a16="http://schemas.microsoft.com/office/drawing/2014/main" id="{ED6E0CF7-DD31-B81C-2B62-76B77937D1ED}"/>
              </a:ext>
            </a:extLst>
          </p:cNvPr>
          <p:cNvPicPr>
            <a:picLocks noChangeAspect="1"/>
          </p:cNvPicPr>
          <p:nvPr/>
        </p:nvPicPr>
        <p:blipFill>
          <a:blip r:embed="rId2"/>
          <a:stretch>
            <a:fillRect/>
          </a:stretch>
        </p:blipFill>
        <p:spPr>
          <a:xfrm>
            <a:off x="578179" y="2636182"/>
            <a:ext cx="8010900" cy="3602840"/>
          </a:xfrm>
          <a:prstGeom prst="rect">
            <a:avLst/>
          </a:prstGeom>
        </p:spPr>
      </p:pic>
    </p:spTree>
    <p:extLst>
      <p:ext uri="{BB962C8B-B14F-4D97-AF65-F5344CB8AC3E}">
        <p14:creationId xmlns:p14="http://schemas.microsoft.com/office/powerpoint/2010/main" val="2811841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2937F-EB6E-71BD-9804-61DA2EC8CCCE}"/>
              </a:ext>
            </a:extLst>
          </p:cNvPr>
          <p:cNvSpPr>
            <a:spLocks noGrp="1"/>
          </p:cNvSpPr>
          <p:nvPr>
            <p:ph type="title"/>
          </p:nvPr>
        </p:nvSpPr>
        <p:spPr/>
        <p:txBody>
          <a:bodyPr/>
          <a:lstStyle/>
          <a:p>
            <a:r>
              <a:rPr lang="en-US" sz="6000" b="1" dirty="0">
                <a:latin typeface="Tahoma" panose="020B0604030504040204" pitchFamily="34" charset="0"/>
                <a:ea typeface="Tahoma" panose="020B0604030504040204" pitchFamily="34" charset="0"/>
                <a:cs typeface="Tahoma" panose="020B0604030504040204" pitchFamily="34" charset="0"/>
              </a:rPr>
              <a:t>Overview</a:t>
            </a:r>
          </a:p>
        </p:txBody>
      </p:sp>
      <p:sp>
        <p:nvSpPr>
          <p:cNvPr id="3" name="Content Placeholder 2">
            <a:extLst>
              <a:ext uri="{FF2B5EF4-FFF2-40B4-BE49-F238E27FC236}">
                <a16:creationId xmlns:a16="http://schemas.microsoft.com/office/drawing/2014/main" id="{3E30FE5B-A59C-C5F9-6A06-69FA9807D225}"/>
              </a:ext>
            </a:extLst>
          </p:cNvPr>
          <p:cNvSpPr>
            <a:spLocks noGrp="1"/>
          </p:cNvSpPr>
          <p:nvPr>
            <p:ph idx="1"/>
          </p:nvPr>
        </p:nvSpPr>
        <p:spPr>
          <a:xfrm>
            <a:off x="759655" y="2986293"/>
            <a:ext cx="9466201" cy="2598581"/>
          </a:xfrm>
        </p:spPr>
        <p:txBody>
          <a:bodyPr>
            <a:normAutofit/>
          </a:bodyPr>
          <a:lstStyle/>
          <a:p>
            <a:r>
              <a:rPr lang="en-US" sz="2000" dirty="0">
                <a:latin typeface="Tahoma" panose="020B0604030504040204" pitchFamily="34" charset="0"/>
                <a:ea typeface="Tahoma" panose="020B0604030504040204" pitchFamily="34" charset="0"/>
                <a:cs typeface="Tahoma" panose="020B0604030504040204" pitchFamily="34" charset="0"/>
              </a:rPr>
              <a:t>This dashboard provides an analytical overview of disease occurrence and mortality across Nigeria. The analysis focuses on disease distribution across states, mortality rates, regional occurrence (urban vs rural), and age-group distribution. The dataset includes </a:t>
            </a:r>
            <a:r>
              <a:rPr lang="en-US" sz="2000" b="1" dirty="0">
                <a:latin typeface="Tahoma" panose="020B0604030504040204" pitchFamily="34" charset="0"/>
                <a:ea typeface="Tahoma" panose="020B0604030504040204" pitchFamily="34" charset="0"/>
                <a:cs typeface="Tahoma" panose="020B0604030504040204" pitchFamily="34" charset="0"/>
              </a:rPr>
              <a:t>10 major diseases </a:t>
            </a:r>
            <a:r>
              <a:rPr lang="en-US" sz="2000" b="1" dirty="0">
                <a:solidFill>
                  <a:schemeClr val="tx1"/>
                </a:solidFill>
                <a:latin typeface="Tahoma" panose="020B0604030504040204" pitchFamily="34" charset="0"/>
                <a:ea typeface="Tahoma" panose="020B0604030504040204" pitchFamily="34" charset="0"/>
                <a:cs typeface="Tahoma" panose="020B0604030504040204" pitchFamily="34" charset="0"/>
              </a:rPr>
              <a:t>across</a:t>
            </a:r>
            <a:r>
              <a:rPr lang="en-US" sz="2000" b="1" dirty="0">
                <a:latin typeface="Tahoma" panose="020B0604030504040204" pitchFamily="34" charset="0"/>
                <a:ea typeface="Tahoma" panose="020B0604030504040204" pitchFamily="34" charset="0"/>
                <a:cs typeface="Tahoma" panose="020B0604030504040204" pitchFamily="34" charset="0"/>
              </a:rPr>
              <a:t> 37 states</a:t>
            </a:r>
            <a:r>
              <a:rPr lang="en-US" sz="2000" dirty="0">
                <a:latin typeface="Tahoma" panose="020B0604030504040204" pitchFamily="34" charset="0"/>
                <a:ea typeface="Tahoma" panose="020B0604030504040204" pitchFamily="34" charset="0"/>
                <a:cs typeface="Tahoma" panose="020B0604030504040204" pitchFamily="34" charset="0"/>
              </a:rPr>
              <a:t>, with a </a:t>
            </a:r>
            <a:r>
              <a:rPr lang="en-US" sz="2000" b="1" dirty="0">
                <a:latin typeface="Tahoma" panose="020B0604030504040204" pitchFamily="34" charset="0"/>
                <a:ea typeface="Tahoma" panose="020B0604030504040204" pitchFamily="34" charset="0"/>
                <a:cs typeface="Tahoma" panose="020B0604030504040204" pitchFamily="34" charset="0"/>
              </a:rPr>
              <a:t>total recorded death rate of 1158 cases</a:t>
            </a:r>
            <a:r>
              <a:rPr lang="en-US" sz="2000"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3871875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C915-1F0D-E546-29D3-53028B4B0729}"/>
              </a:ext>
            </a:extLst>
          </p:cNvPr>
          <p:cNvSpPr>
            <a:spLocks noGrp="1"/>
          </p:cNvSpPr>
          <p:nvPr>
            <p:ph type="title"/>
          </p:nvPr>
        </p:nvSpPr>
        <p:spPr/>
        <p:txBody>
          <a:bodyPr/>
          <a:lstStyle/>
          <a:p>
            <a:r>
              <a:rPr lang="en-US" sz="4800" b="1" dirty="0"/>
              <a:t>Key Metrics</a:t>
            </a:r>
          </a:p>
        </p:txBody>
      </p:sp>
      <p:sp>
        <p:nvSpPr>
          <p:cNvPr id="3" name="Content Placeholder 2">
            <a:extLst>
              <a:ext uri="{FF2B5EF4-FFF2-40B4-BE49-F238E27FC236}">
                <a16:creationId xmlns:a16="http://schemas.microsoft.com/office/drawing/2014/main" id="{8D18960B-52C8-2EB3-8674-DAD58828E868}"/>
              </a:ext>
            </a:extLst>
          </p:cNvPr>
          <p:cNvSpPr>
            <a:spLocks noGrp="1"/>
          </p:cNvSpPr>
          <p:nvPr>
            <p:ph idx="1"/>
          </p:nvPr>
        </p:nvSpPr>
        <p:spPr/>
        <p:txBody>
          <a:bodyPr>
            <a:normAutofit lnSpcReduction="10000"/>
          </a:bodyPr>
          <a:lstStyle/>
          <a:p>
            <a:r>
              <a:rPr lang="en-US" sz="2800" b="1" dirty="0">
                <a:latin typeface="Tahoma" panose="020B0604030504040204" pitchFamily="34" charset="0"/>
                <a:ea typeface="Tahoma" panose="020B0604030504040204" pitchFamily="34" charset="0"/>
                <a:cs typeface="Tahoma" panose="020B0604030504040204" pitchFamily="34" charset="0"/>
              </a:rPr>
              <a:t>Total Death Rate:</a:t>
            </a:r>
            <a:r>
              <a:rPr lang="en-US" sz="2800" dirty="0">
                <a:latin typeface="Tahoma" panose="020B0604030504040204" pitchFamily="34" charset="0"/>
                <a:ea typeface="Tahoma" panose="020B0604030504040204" pitchFamily="34" charset="0"/>
                <a:cs typeface="Tahoma" panose="020B0604030504040204" pitchFamily="34" charset="0"/>
              </a:rPr>
              <a:t> 1158</a:t>
            </a:r>
          </a:p>
          <a:p>
            <a:r>
              <a:rPr lang="en-US" sz="2800" b="1" dirty="0">
                <a:latin typeface="Tahoma" panose="020B0604030504040204" pitchFamily="34" charset="0"/>
                <a:ea typeface="Tahoma" panose="020B0604030504040204" pitchFamily="34" charset="0"/>
                <a:cs typeface="Tahoma" panose="020B0604030504040204" pitchFamily="34" charset="0"/>
              </a:rPr>
              <a:t>Total Diseases Recorded:</a:t>
            </a:r>
            <a:r>
              <a:rPr lang="en-US" sz="2800" dirty="0">
                <a:latin typeface="Tahoma" panose="020B0604030504040204" pitchFamily="34" charset="0"/>
                <a:ea typeface="Tahoma" panose="020B0604030504040204" pitchFamily="34" charset="0"/>
                <a:cs typeface="Tahoma" panose="020B0604030504040204" pitchFamily="34" charset="0"/>
              </a:rPr>
              <a:t> 10</a:t>
            </a:r>
          </a:p>
          <a:p>
            <a:r>
              <a:rPr lang="en-US" sz="2800" b="1" dirty="0">
                <a:latin typeface="Tahoma" panose="020B0604030504040204" pitchFamily="34" charset="0"/>
                <a:ea typeface="Tahoma" panose="020B0604030504040204" pitchFamily="34" charset="0"/>
                <a:cs typeface="Tahoma" panose="020B0604030504040204" pitchFamily="34" charset="0"/>
              </a:rPr>
              <a:t>Total States Covered:</a:t>
            </a:r>
            <a:r>
              <a:rPr lang="en-US" sz="2800" dirty="0">
                <a:latin typeface="Tahoma" panose="020B0604030504040204" pitchFamily="34" charset="0"/>
                <a:ea typeface="Tahoma" panose="020B0604030504040204" pitchFamily="34" charset="0"/>
                <a:cs typeface="Tahoma" panose="020B0604030504040204" pitchFamily="34" charset="0"/>
              </a:rPr>
              <a:t> 37</a:t>
            </a:r>
          </a:p>
          <a:p>
            <a:pPr marL="0" indent="0">
              <a:buNone/>
            </a:pPr>
            <a:endParaRPr lang="en-US" sz="2800" dirty="0">
              <a:latin typeface="Tahoma" panose="020B0604030504040204" pitchFamily="34" charset="0"/>
              <a:ea typeface="Tahoma" panose="020B0604030504040204" pitchFamily="34" charset="0"/>
              <a:cs typeface="Tahoma" panose="020B0604030504040204" pitchFamily="34" charset="0"/>
            </a:endParaRPr>
          </a:p>
          <a:p>
            <a:r>
              <a:rPr lang="en-US" sz="2800" dirty="0">
                <a:latin typeface="Tahoma" panose="020B0604030504040204" pitchFamily="34" charset="0"/>
                <a:ea typeface="Tahoma" panose="020B0604030504040204" pitchFamily="34" charset="0"/>
                <a:cs typeface="Tahoma" panose="020B0604030504040204" pitchFamily="34" charset="0"/>
              </a:rPr>
              <a:t>These metrics provide a high-level summary of the dataset and the overall health burden across Nigeria.</a:t>
            </a:r>
          </a:p>
          <a:p>
            <a:pPr marL="0" indent="0">
              <a:buNone/>
            </a:pPr>
            <a:endParaRPr lang="en-US" dirty="0"/>
          </a:p>
        </p:txBody>
      </p:sp>
    </p:spTree>
    <p:extLst>
      <p:ext uri="{BB962C8B-B14F-4D97-AF65-F5344CB8AC3E}">
        <p14:creationId xmlns:p14="http://schemas.microsoft.com/office/powerpoint/2010/main" val="2021940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A3FB4-7696-178E-7166-17EE5E8182C3}"/>
              </a:ext>
            </a:extLst>
          </p:cNvPr>
          <p:cNvSpPr>
            <a:spLocks noGrp="1"/>
          </p:cNvSpPr>
          <p:nvPr>
            <p:ph type="title"/>
          </p:nvPr>
        </p:nvSpPr>
        <p:spPr/>
        <p:txBody>
          <a:bodyPr/>
          <a:lstStyle/>
          <a:p>
            <a:r>
              <a:rPr lang="en-US" sz="4400" b="1" dirty="0">
                <a:latin typeface="Tahoma" panose="020B0604030504040204" pitchFamily="34" charset="0"/>
                <a:ea typeface="Tahoma" panose="020B0604030504040204" pitchFamily="34" charset="0"/>
                <a:cs typeface="Tahoma" panose="020B0604030504040204" pitchFamily="34" charset="0"/>
              </a:rPr>
              <a:t>Disease Distribution by State</a:t>
            </a:r>
          </a:p>
        </p:txBody>
      </p:sp>
      <p:sp>
        <p:nvSpPr>
          <p:cNvPr id="3" name="Content Placeholder 2">
            <a:extLst>
              <a:ext uri="{FF2B5EF4-FFF2-40B4-BE49-F238E27FC236}">
                <a16:creationId xmlns:a16="http://schemas.microsoft.com/office/drawing/2014/main" id="{08A57687-E181-C7CD-1A2F-935CE37880F8}"/>
              </a:ext>
            </a:extLst>
          </p:cNvPr>
          <p:cNvSpPr>
            <a:spLocks noGrp="1"/>
          </p:cNvSpPr>
          <p:nvPr>
            <p:ph sz="half" idx="1"/>
          </p:nvPr>
        </p:nvSpPr>
        <p:spPr>
          <a:xfrm>
            <a:off x="492369" y="2603500"/>
            <a:ext cx="5487743" cy="4008315"/>
          </a:xfrm>
        </p:spPr>
        <p:txBody>
          <a:bodyPr>
            <a:normAutofit fontScale="85000" lnSpcReduction="20000"/>
          </a:bodyPr>
          <a:lstStyle/>
          <a:p>
            <a:pPr algn="just"/>
            <a:r>
              <a:rPr lang="en-US" sz="3100" b="1" dirty="0">
                <a:latin typeface="Tahoma" panose="020B0604030504040204" pitchFamily="34" charset="0"/>
                <a:ea typeface="Tahoma" panose="020B0604030504040204" pitchFamily="34" charset="0"/>
                <a:cs typeface="Tahoma" panose="020B0604030504040204" pitchFamily="34" charset="0"/>
              </a:rPr>
              <a:t>Cholera</a:t>
            </a:r>
          </a:p>
          <a:p>
            <a:pPr algn="just"/>
            <a:r>
              <a:rPr lang="en-US" sz="2100" dirty="0">
                <a:latin typeface="Tahoma" panose="020B0604030504040204" pitchFamily="34" charset="0"/>
                <a:ea typeface="Tahoma" panose="020B0604030504040204" pitchFamily="34" charset="0"/>
                <a:cs typeface="Tahoma" panose="020B0604030504040204" pitchFamily="34" charset="0"/>
              </a:rPr>
              <a:t>Top affected states include:</a:t>
            </a:r>
          </a:p>
          <a:p>
            <a:pPr algn="just"/>
            <a:r>
              <a:rPr lang="en-US" sz="2100" dirty="0">
                <a:latin typeface="Tahoma" panose="020B0604030504040204" pitchFamily="34" charset="0"/>
                <a:ea typeface="Tahoma" panose="020B0604030504040204" pitchFamily="34" charset="0"/>
                <a:cs typeface="Tahoma" panose="020B0604030504040204" pitchFamily="34" charset="0"/>
              </a:rPr>
              <a:t>Abia – 12 cases</a:t>
            </a:r>
          </a:p>
          <a:p>
            <a:pPr algn="just"/>
            <a:r>
              <a:rPr lang="en-US" sz="2100" dirty="0">
                <a:latin typeface="Tahoma" panose="020B0604030504040204" pitchFamily="34" charset="0"/>
                <a:ea typeface="Tahoma" panose="020B0604030504040204" pitchFamily="34" charset="0"/>
                <a:cs typeface="Tahoma" panose="020B0604030504040204" pitchFamily="34" charset="0"/>
              </a:rPr>
              <a:t>Sokoto – 12 cases</a:t>
            </a:r>
          </a:p>
          <a:p>
            <a:pPr algn="just"/>
            <a:r>
              <a:rPr lang="en-US" sz="2100" dirty="0">
                <a:latin typeface="Tahoma" panose="020B0604030504040204" pitchFamily="34" charset="0"/>
                <a:ea typeface="Tahoma" panose="020B0604030504040204" pitchFamily="34" charset="0"/>
                <a:cs typeface="Tahoma" panose="020B0604030504040204" pitchFamily="34" charset="0"/>
              </a:rPr>
              <a:t>Borno – 11 cases</a:t>
            </a:r>
          </a:p>
          <a:p>
            <a:pPr algn="just"/>
            <a:r>
              <a:rPr lang="en-US" sz="2100" dirty="0">
                <a:latin typeface="Tahoma" panose="020B0604030504040204" pitchFamily="34" charset="0"/>
                <a:ea typeface="Tahoma" panose="020B0604030504040204" pitchFamily="34" charset="0"/>
                <a:cs typeface="Tahoma" panose="020B0604030504040204" pitchFamily="34" charset="0"/>
              </a:rPr>
              <a:t>Plateau – 11 cases</a:t>
            </a:r>
          </a:p>
          <a:p>
            <a:pPr algn="just"/>
            <a:r>
              <a:rPr lang="en-US" sz="2100" dirty="0">
                <a:latin typeface="Tahoma" panose="020B0604030504040204" pitchFamily="34" charset="0"/>
                <a:ea typeface="Tahoma" panose="020B0604030504040204" pitchFamily="34" charset="0"/>
                <a:cs typeface="Tahoma" panose="020B0604030504040204" pitchFamily="34" charset="0"/>
              </a:rPr>
              <a:t>Kaduna – 10 cases</a:t>
            </a:r>
          </a:p>
          <a:p>
            <a:pPr algn="just"/>
            <a:r>
              <a:rPr lang="en-US" sz="2100" dirty="0">
                <a:latin typeface="Tahoma" panose="020B0604030504040204" pitchFamily="34" charset="0"/>
                <a:ea typeface="Tahoma" panose="020B0604030504040204" pitchFamily="34" charset="0"/>
                <a:cs typeface="Tahoma" panose="020B0604030504040204" pitchFamily="34" charset="0"/>
              </a:rPr>
              <a:t>Osun – 10 cases</a:t>
            </a:r>
          </a:p>
          <a:p>
            <a:pPr algn="just"/>
            <a:endParaRPr lang="en-US" sz="2100" dirty="0">
              <a:latin typeface="Tahoma" panose="020B0604030504040204" pitchFamily="34" charset="0"/>
              <a:ea typeface="Tahoma" panose="020B0604030504040204" pitchFamily="34" charset="0"/>
              <a:cs typeface="Tahoma" panose="020B0604030504040204" pitchFamily="34" charset="0"/>
            </a:endParaRPr>
          </a:p>
          <a:p>
            <a:pPr algn="just"/>
            <a:r>
              <a:rPr lang="en-US" sz="2100" dirty="0">
                <a:latin typeface="Tahoma" panose="020B0604030504040204" pitchFamily="34" charset="0"/>
                <a:ea typeface="Tahoma" panose="020B0604030504040204" pitchFamily="34" charset="0"/>
                <a:cs typeface="Tahoma" panose="020B0604030504040204" pitchFamily="34" charset="0"/>
              </a:rPr>
              <a:t>This suggests cholera outbreaks are spread across multiple regions rather than being isolated to a single geographic zone.</a:t>
            </a:r>
          </a:p>
          <a:p>
            <a:endParaRPr lang="en-US" dirty="0"/>
          </a:p>
        </p:txBody>
      </p:sp>
      <p:sp>
        <p:nvSpPr>
          <p:cNvPr id="4" name="Content Placeholder 3">
            <a:extLst>
              <a:ext uri="{FF2B5EF4-FFF2-40B4-BE49-F238E27FC236}">
                <a16:creationId xmlns:a16="http://schemas.microsoft.com/office/drawing/2014/main" id="{E628AC64-ECCC-30F0-9877-98AFB6555018}"/>
              </a:ext>
            </a:extLst>
          </p:cNvPr>
          <p:cNvSpPr>
            <a:spLocks noGrp="1"/>
          </p:cNvSpPr>
          <p:nvPr>
            <p:ph sz="half" idx="2"/>
          </p:nvPr>
        </p:nvSpPr>
        <p:spPr>
          <a:xfrm>
            <a:off x="6208712" y="2603500"/>
            <a:ext cx="5594082" cy="4008314"/>
          </a:xfrm>
        </p:spPr>
        <p:txBody>
          <a:bodyPr>
            <a:normAutofit fontScale="85000" lnSpcReduction="20000"/>
          </a:bodyPr>
          <a:lstStyle/>
          <a:p>
            <a:r>
              <a:rPr lang="en-US" sz="2800" b="1" dirty="0">
                <a:latin typeface="Tahoma" panose="020B0604030504040204" pitchFamily="34" charset="0"/>
                <a:ea typeface="Tahoma" panose="020B0604030504040204" pitchFamily="34" charset="0"/>
                <a:cs typeface="Tahoma" panose="020B0604030504040204" pitchFamily="34" charset="0"/>
              </a:rPr>
              <a:t>Malaria</a:t>
            </a:r>
          </a:p>
          <a:p>
            <a:r>
              <a:rPr lang="en-US" sz="2400" dirty="0"/>
              <a:t>Top states with malaria cases:</a:t>
            </a:r>
          </a:p>
          <a:p>
            <a:r>
              <a:rPr lang="en-US" sz="2100" dirty="0">
                <a:latin typeface="Tahoma" panose="020B0604030504040204" pitchFamily="34" charset="0"/>
                <a:ea typeface="Tahoma" panose="020B0604030504040204" pitchFamily="34" charset="0"/>
                <a:cs typeface="Tahoma" panose="020B0604030504040204" pitchFamily="34" charset="0"/>
              </a:rPr>
              <a:t>Kebbi – 11 cases</a:t>
            </a:r>
          </a:p>
          <a:p>
            <a:r>
              <a:rPr lang="en-US" sz="2100" dirty="0">
                <a:latin typeface="Tahoma" panose="020B0604030504040204" pitchFamily="34" charset="0"/>
                <a:ea typeface="Tahoma" panose="020B0604030504040204" pitchFamily="34" charset="0"/>
                <a:cs typeface="Tahoma" panose="020B0604030504040204" pitchFamily="34" charset="0"/>
              </a:rPr>
              <a:t>Niger – 11 cases</a:t>
            </a:r>
          </a:p>
          <a:p>
            <a:r>
              <a:rPr lang="en-US" sz="2100" dirty="0">
                <a:latin typeface="Tahoma" panose="020B0604030504040204" pitchFamily="34" charset="0"/>
                <a:ea typeface="Tahoma" panose="020B0604030504040204" pitchFamily="34" charset="0"/>
                <a:cs typeface="Tahoma" panose="020B0604030504040204" pitchFamily="34" charset="0"/>
              </a:rPr>
              <a:t>Bayelsa – 10 cases</a:t>
            </a:r>
          </a:p>
          <a:p>
            <a:r>
              <a:rPr lang="en-US" sz="2100" dirty="0">
                <a:latin typeface="Tahoma" panose="020B0604030504040204" pitchFamily="34" charset="0"/>
                <a:ea typeface="Tahoma" panose="020B0604030504040204" pitchFamily="34" charset="0"/>
                <a:cs typeface="Tahoma" panose="020B0604030504040204" pitchFamily="34" charset="0"/>
              </a:rPr>
              <a:t>Delta – 9 cases</a:t>
            </a:r>
          </a:p>
          <a:p>
            <a:r>
              <a:rPr lang="en-US" sz="2100" dirty="0">
                <a:latin typeface="Tahoma" panose="020B0604030504040204" pitchFamily="34" charset="0"/>
                <a:ea typeface="Tahoma" panose="020B0604030504040204" pitchFamily="34" charset="0"/>
                <a:cs typeface="Tahoma" panose="020B0604030504040204" pitchFamily="34" charset="0"/>
              </a:rPr>
              <a:t>Rivers – 9 cases</a:t>
            </a:r>
          </a:p>
          <a:p>
            <a:endParaRPr lang="en-US" sz="2100" dirty="0">
              <a:latin typeface="Tahoma" panose="020B0604030504040204" pitchFamily="34" charset="0"/>
              <a:ea typeface="Tahoma" panose="020B0604030504040204" pitchFamily="34" charset="0"/>
              <a:cs typeface="Tahoma" panose="020B0604030504040204" pitchFamily="34" charset="0"/>
            </a:endParaRPr>
          </a:p>
          <a:p>
            <a:r>
              <a:rPr lang="en-US" sz="2100" dirty="0">
                <a:latin typeface="Tahoma" panose="020B0604030504040204" pitchFamily="34" charset="0"/>
                <a:ea typeface="Tahoma" panose="020B0604030504040204" pitchFamily="34" charset="0"/>
                <a:cs typeface="Tahoma" panose="020B0604030504040204" pitchFamily="34" charset="0"/>
              </a:rPr>
              <a:t>The distribution indicates that malaria prevalence is widespread and affects both northern and southern regions.</a:t>
            </a:r>
          </a:p>
          <a:p>
            <a:endParaRPr lang="en-US" dirty="0"/>
          </a:p>
        </p:txBody>
      </p:sp>
    </p:spTree>
    <p:extLst>
      <p:ext uri="{BB962C8B-B14F-4D97-AF65-F5344CB8AC3E}">
        <p14:creationId xmlns:p14="http://schemas.microsoft.com/office/powerpoint/2010/main" val="3621328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A5200-CF3C-9191-271A-762475C45BD4}"/>
              </a:ext>
            </a:extLst>
          </p:cNvPr>
          <p:cNvSpPr>
            <a:spLocks noGrp="1"/>
          </p:cNvSpPr>
          <p:nvPr>
            <p:ph type="title"/>
          </p:nvPr>
        </p:nvSpPr>
        <p:spPr/>
        <p:txBody>
          <a:bodyPr/>
          <a:lstStyle/>
          <a:p>
            <a:r>
              <a:rPr lang="en-US" sz="6000" dirty="0">
                <a:latin typeface="Tahoma" panose="020B0604030504040204" pitchFamily="34" charset="0"/>
                <a:ea typeface="Tahoma" panose="020B0604030504040204" pitchFamily="34" charset="0"/>
                <a:cs typeface="Tahoma" panose="020B0604030504040204" pitchFamily="34" charset="0"/>
              </a:rPr>
              <a:t>INSIGHTS</a:t>
            </a:r>
          </a:p>
        </p:txBody>
      </p:sp>
      <p:sp>
        <p:nvSpPr>
          <p:cNvPr id="3" name="Content Placeholder 2">
            <a:extLst>
              <a:ext uri="{FF2B5EF4-FFF2-40B4-BE49-F238E27FC236}">
                <a16:creationId xmlns:a16="http://schemas.microsoft.com/office/drawing/2014/main" id="{30C6C885-57FF-019A-2788-9BC7124400B1}"/>
              </a:ext>
            </a:extLst>
          </p:cNvPr>
          <p:cNvSpPr>
            <a:spLocks noGrp="1"/>
          </p:cNvSpPr>
          <p:nvPr>
            <p:ph sz="half" idx="1"/>
          </p:nvPr>
        </p:nvSpPr>
        <p:spPr>
          <a:xfrm>
            <a:off x="225083" y="2603500"/>
            <a:ext cx="5755029" cy="4078654"/>
          </a:xfrm>
        </p:spPr>
        <p:txBody>
          <a:bodyPr>
            <a:normAutofit/>
          </a:bodyPr>
          <a:lstStyle/>
          <a:p>
            <a:r>
              <a:rPr lang="en-US" sz="2000" b="1" dirty="0">
                <a:latin typeface="Tahoma" panose="020B0604030504040204" pitchFamily="34" charset="0"/>
                <a:ea typeface="Tahoma" panose="020B0604030504040204" pitchFamily="34" charset="0"/>
                <a:cs typeface="Tahoma" panose="020B0604030504040204" pitchFamily="34" charset="0"/>
              </a:rPr>
              <a:t>Regional Disease Occurrence</a:t>
            </a:r>
          </a:p>
          <a:p>
            <a:r>
              <a:rPr lang="en-US" dirty="0">
                <a:latin typeface="Tahoma" panose="020B0604030504040204" pitchFamily="34" charset="0"/>
                <a:ea typeface="Tahoma" panose="020B0604030504040204" pitchFamily="34" charset="0"/>
                <a:cs typeface="Tahoma" panose="020B0604030504040204" pitchFamily="34" charset="0"/>
              </a:rPr>
              <a:t>The dashboard compares disease occurrence between </a:t>
            </a:r>
            <a:r>
              <a:rPr lang="en-US" b="1" dirty="0">
                <a:latin typeface="Tahoma" panose="020B0604030504040204" pitchFamily="34" charset="0"/>
                <a:ea typeface="Tahoma" panose="020B0604030504040204" pitchFamily="34" charset="0"/>
                <a:cs typeface="Tahoma" panose="020B0604030504040204" pitchFamily="34" charset="0"/>
              </a:rPr>
              <a:t>Urban and Rural areas</a:t>
            </a:r>
            <a:r>
              <a:rPr lang="en-US" dirty="0">
                <a:latin typeface="Tahoma" panose="020B0604030504040204" pitchFamily="34" charset="0"/>
                <a:ea typeface="Tahoma" panose="020B0604030504040204" pitchFamily="34" charset="0"/>
                <a:cs typeface="Tahoma" panose="020B0604030504040204" pitchFamily="34" charset="0"/>
              </a:rPr>
              <a:t>.</a:t>
            </a:r>
          </a:p>
          <a:p>
            <a:r>
              <a:rPr lang="en-US" b="1" dirty="0">
                <a:latin typeface="Tahoma" panose="020B0604030504040204" pitchFamily="34" charset="0"/>
                <a:ea typeface="Tahoma" panose="020B0604030504040204" pitchFamily="34" charset="0"/>
                <a:cs typeface="Tahoma" panose="020B0604030504040204" pitchFamily="34" charset="0"/>
              </a:rPr>
              <a:t>Urban:</a:t>
            </a:r>
            <a:r>
              <a:rPr lang="en-US" dirty="0">
                <a:latin typeface="Tahoma" panose="020B0604030504040204" pitchFamily="34" charset="0"/>
                <a:ea typeface="Tahoma" panose="020B0604030504040204" pitchFamily="34" charset="0"/>
                <a:cs typeface="Tahoma" panose="020B0604030504040204" pitchFamily="34" charset="0"/>
              </a:rPr>
              <a:t> 1131 cases</a:t>
            </a:r>
          </a:p>
          <a:p>
            <a:r>
              <a:rPr lang="en-US" b="1" dirty="0">
                <a:latin typeface="Tahoma" panose="020B0604030504040204" pitchFamily="34" charset="0"/>
                <a:ea typeface="Tahoma" panose="020B0604030504040204" pitchFamily="34" charset="0"/>
                <a:cs typeface="Tahoma" panose="020B0604030504040204" pitchFamily="34" charset="0"/>
              </a:rPr>
              <a:t>Rural:</a:t>
            </a:r>
            <a:r>
              <a:rPr lang="en-US" dirty="0">
                <a:latin typeface="Tahoma" panose="020B0604030504040204" pitchFamily="34" charset="0"/>
                <a:ea typeface="Tahoma" panose="020B0604030504040204" pitchFamily="34" charset="0"/>
                <a:cs typeface="Tahoma" panose="020B0604030504040204" pitchFamily="34" charset="0"/>
              </a:rPr>
              <a:t> 1115 cases</a:t>
            </a:r>
          </a:p>
          <a:p>
            <a:pPr marL="0" indent="0">
              <a:buNone/>
            </a:pPr>
            <a:endParaRPr lang="en-US" dirty="0">
              <a:latin typeface="Tahoma" panose="020B0604030504040204" pitchFamily="34" charset="0"/>
              <a:ea typeface="Tahoma" panose="020B0604030504040204" pitchFamily="34" charset="0"/>
              <a:cs typeface="Tahoma" panose="020B0604030504040204" pitchFamily="34" charset="0"/>
            </a:endParaRPr>
          </a:p>
          <a:p>
            <a:r>
              <a:rPr lang="en-US" dirty="0">
                <a:latin typeface="Tahoma" panose="020B0604030504040204" pitchFamily="34" charset="0"/>
                <a:ea typeface="Tahoma" panose="020B0604030504040204" pitchFamily="34" charset="0"/>
                <a:cs typeface="Tahoma" panose="020B0604030504040204" pitchFamily="34" charset="0"/>
              </a:rPr>
              <a:t>The difference between urban and rural regions is relatively small, indicating that diseases affect both populations almost equally. However, slightly higher urban numbers may be due to higher population density and better reporting systems.</a:t>
            </a:r>
          </a:p>
          <a:p>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4" name="Content Placeholder 3">
            <a:extLst>
              <a:ext uri="{FF2B5EF4-FFF2-40B4-BE49-F238E27FC236}">
                <a16:creationId xmlns:a16="http://schemas.microsoft.com/office/drawing/2014/main" id="{BB56CEAE-5786-E21F-5349-C89BBCE745E6}"/>
              </a:ext>
            </a:extLst>
          </p:cNvPr>
          <p:cNvSpPr>
            <a:spLocks noGrp="1"/>
          </p:cNvSpPr>
          <p:nvPr>
            <p:ph sz="half" idx="2"/>
          </p:nvPr>
        </p:nvSpPr>
        <p:spPr>
          <a:xfrm>
            <a:off x="6208712" y="2603499"/>
            <a:ext cx="5755029" cy="4078653"/>
          </a:xfrm>
        </p:spPr>
        <p:txBody>
          <a:bodyPr>
            <a:normAutofit/>
          </a:bodyPr>
          <a:lstStyle/>
          <a:p>
            <a:r>
              <a:rPr lang="en-US" sz="2400" b="1" dirty="0">
                <a:latin typeface="Tahoma" panose="020B0604030504040204" pitchFamily="34" charset="0"/>
                <a:ea typeface="Tahoma" panose="020B0604030504040204" pitchFamily="34" charset="0"/>
                <a:cs typeface="Tahoma" panose="020B0604030504040204" pitchFamily="34" charset="0"/>
              </a:rPr>
              <a:t>Disease Distribution by Age Group</a:t>
            </a:r>
          </a:p>
          <a:p>
            <a:r>
              <a:rPr lang="en-US" dirty="0">
                <a:latin typeface="Tahoma" panose="020B0604030504040204" pitchFamily="34" charset="0"/>
                <a:ea typeface="Tahoma" panose="020B0604030504040204" pitchFamily="34" charset="0"/>
                <a:cs typeface="Tahoma" panose="020B0604030504040204" pitchFamily="34" charset="0"/>
              </a:rPr>
              <a:t>The age group analysis shows the following distribution:</a:t>
            </a:r>
          </a:p>
          <a:p>
            <a:r>
              <a:rPr lang="en-US" b="1" dirty="0">
                <a:latin typeface="Tahoma" panose="020B0604030504040204" pitchFamily="34" charset="0"/>
                <a:ea typeface="Tahoma" panose="020B0604030504040204" pitchFamily="34" charset="0"/>
                <a:cs typeface="Tahoma" panose="020B0604030504040204" pitchFamily="34" charset="0"/>
              </a:rPr>
              <a:t>Age Group 1:</a:t>
            </a:r>
            <a:r>
              <a:rPr lang="en-US" dirty="0">
                <a:latin typeface="Tahoma" panose="020B0604030504040204" pitchFamily="34" charset="0"/>
                <a:ea typeface="Tahoma" panose="020B0604030504040204" pitchFamily="34" charset="0"/>
                <a:cs typeface="Tahoma" panose="020B0604030504040204" pitchFamily="34" charset="0"/>
              </a:rPr>
              <a:t> 87 cases (37.66%)</a:t>
            </a:r>
          </a:p>
          <a:p>
            <a:r>
              <a:rPr lang="en-US" b="1" dirty="0">
                <a:latin typeface="Tahoma" panose="020B0604030504040204" pitchFamily="34" charset="0"/>
                <a:ea typeface="Tahoma" panose="020B0604030504040204" pitchFamily="34" charset="0"/>
                <a:cs typeface="Tahoma" panose="020B0604030504040204" pitchFamily="34" charset="0"/>
              </a:rPr>
              <a:t>Age Group 2:</a:t>
            </a:r>
            <a:r>
              <a:rPr lang="en-US" dirty="0">
                <a:latin typeface="Tahoma" panose="020B0604030504040204" pitchFamily="34" charset="0"/>
                <a:ea typeface="Tahoma" panose="020B0604030504040204" pitchFamily="34" charset="0"/>
                <a:cs typeface="Tahoma" panose="020B0604030504040204" pitchFamily="34" charset="0"/>
              </a:rPr>
              <a:t> 82 cases (35.5%)</a:t>
            </a:r>
          </a:p>
          <a:p>
            <a:r>
              <a:rPr lang="en-US" b="1" dirty="0">
                <a:latin typeface="Tahoma" panose="020B0604030504040204" pitchFamily="34" charset="0"/>
                <a:ea typeface="Tahoma" panose="020B0604030504040204" pitchFamily="34" charset="0"/>
                <a:cs typeface="Tahoma" panose="020B0604030504040204" pitchFamily="34" charset="0"/>
              </a:rPr>
              <a:t>Age Group 3:</a:t>
            </a:r>
            <a:r>
              <a:rPr lang="en-US" dirty="0">
                <a:latin typeface="Tahoma" panose="020B0604030504040204" pitchFamily="34" charset="0"/>
                <a:ea typeface="Tahoma" panose="020B0604030504040204" pitchFamily="34" charset="0"/>
                <a:cs typeface="Tahoma" panose="020B0604030504040204" pitchFamily="34" charset="0"/>
              </a:rPr>
              <a:t> 62 cases (26.84%)</a:t>
            </a:r>
          </a:p>
          <a:p>
            <a:pPr marL="0" indent="0">
              <a:buNone/>
            </a:pPr>
            <a:endParaRPr lang="en-US" dirty="0">
              <a:latin typeface="Tahoma" panose="020B0604030504040204" pitchFamily="34" charset="0"/>
              <a:ea typeface="Tahoma" panose="020B0604030504040204" pitchFamily="34" charset="0"/>
              <a:cs typeface="Tahoma" panose="020B0604030504040204" pitchFamily="34" charset="0"/>
            </a:endParaRPr>
          </a:p>
          <a:p>
            <a:r>
              <a:rPr lang="en-US" dirty="0">
                <a:latin typeface="Tahoma" panose="020B0604030504040204" pitchFamily="34" charset="0"/>
                <a:ea typeface="Tahoma" panose="020B0604030504040204" pitchFamily="34" charset="0"/>
                <a:cs typeface="Tahoma" panose="020B0604030504040204" pitchFamily="34" charset="0"/>
              </a:rPr>
              <a:t>This suggests that younger and middle-aged populations are more affected by diseases compared to older groups.</a:t>
            </a:r>
          </a:p>
          <a:p>
            <a:endParaRPr lang="en-US" dirty="0"/>
          </a:p>
        </p:txBody>
      </p:sp>
    </p:spTree>
    <p:extLst>
      <p:ext uri="{BB962C8B-B14F-4D97-AF65-F5344CB8AC3E}">
        <p14:creationId xmlns:p14="http://schemas.microsoft.com/office/powerpoint/2010/main" val="1123145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D4EAA-F3A2-BCC5-4879-76AC0D065CD5}"/>
              </a:ext>
            </a:extLst>
          </p:cNvPr>
          <p:cNvSpPr>
            <a:spLocks noGrp="1"/>
          </p:cNvSpPr>
          <p:nvPr>
            <p:ph type="title"/>
          </p:nvPr>
        </p:nvSpPr>
        <p:spPr/>
        <p:txBody>
          <a:bodyPr/>
          <a:lstStyle/>
          <a:p>
            <a:r>
              <a:rPr lang="en-US" sz="6000" dirty="0">
                <a:latin typeface="Tahoma" panose="020B0604030504040204" pitchFamily="34" charset="0"/>
                <a:ea typeface="Tahoma" panose="020B0604030504040204" pitchFamily="34" charset="0"/>
                <a:cs typeface="Tahoma" panose="020B0604030504040204" pitchFamily="34" charset="0"/>
              </a:rPr>
              <a:t>INSIGHTS</a:t>
            </a:r>
          </a:p>
        </p:txBody>
      </p:sp>
      <p:sp>
        <p:nvSpPr>
          <p:cNvPr id="3" name="Content Placeholder 2">
            <a:extLst>
              <a:ext uri="{FF2B5EF4-FFF2-40B4-BE49-F238E27FC236}">
                <a16:creationId xmlns:a16="http://schemas.microsoft.com/office/drawing/2014/main" id="{E7032E41-D457-1920-A2B1-B9E78B36C820}"/>
              </a:ext>
            </a:extLst>
          </p:cNvPr>
          <p:cNvSpPr>
            <a:spLocks noGrp="1"/>
          </p:cNvSpPr>
          <p:nvPr>
            <p:ph sz="half" idx="1"/>
          </p:nvPr>
        </p:nvSpPr>
        <p:spPr>
          <a:xfrm>
            <a:off x="182880" y="2363372"/>
            <a:ext cx="5797232" cy="4262511"/>
          </a:xfrm>
        </p:spPr>
        <p:txBody>
          <a:bodyPr>
            <a:normAutofit lnSpcReduction="10000"/>
          </a:bodyPr>
          <a:lstStyle/>
          <a:p>
            <a:r>
              <a:rPr lang="en-US" sz="2200" b="1" dirty="0">
                <a:latin typeface="Tahoma" panose="020B0604030504040204" pitchFamily="34" charset="0"/>
                <a:ea typeface="Tahoma" panose="020B0604030504040204" pitchFamily="34" charset="0"/>
                <a:cs typeface="Tahoma" panose="020B0604030504040204" pitchFamily="34" charset="0"/>
              </a:rPr>
              <a:t>States with Highest Cholera Death Rate</a:t>
            </a:r>
          </a:p>
          <a:p>
            <a:r>
              <a:rPr lang="en-US" sz="1900" dirty="0">
                <a:latin typeface="Tahoma" panose="020B0604030504040204" pitchFamily="34" charset="0"/>
                <a:ea typeface="Tahoma" panose="020B0604030504040204" pitchFamily="34" charset="0"/>
                <a:cs typeface="Tahoma" panose="020B0604030504040204" pitchFamily="34" charset="0"/>
              </a:rPr>
              <a:t>Abia</a:t>
            </a:r>
          </a:p>
          <a:p>
            <a:r>
              <a:rPr lang="en-US" sz="1900" dirty="0">
                <a:latin typeface="Tahoma" panose="020B0604030504040204" pitchFamily="34" charset="0"/>
                <a:ea typeface="Tahoma" panose="020B0604030504040204" pitchFamily="34" charset="0"/>
                <a:cs typeface="Tahoma" panose="020B0604030504040204" pitchFamily="34" charset="0"/>
              </a:rPr>
              <a:t>Borno</a:t>
            </a:r>
          </a:p>
          <a:p>
            <a:r>
              <a:rPr lang="en-US" sz="1900" dirty="0">
                <a:latin typeface="Tahoma" panose="020B0604030504040204" pitchFamily="34" charset="0"/>
                <a:ea typeface="Tahoma" panose="020B0604030504040204" pitchFamily="34" charset="0"/>
                <a:cs typeface="Tahoma" panose="020B0604030504040204" pitchFamily="34" charset="0"/>
              </a:rPr>
              <a:t>Osun</a:t>
            </a:r>
          </a:p>
          <a:p>
            <a:r>
              <a:rPr lang="en-US" sz="1900" dirty="0">
                <a:latin typeface="Tahoma" panose="020B0604030504040204" pitchFamily="34" charset="0"/>
                <a:ea typeface="Tahoma" panose="020B0604030504040204" pitchFamily="34" charset="0"/>
                <a:cs typeface="Tahoma" panose="020B0604030504040204" pitchFamily="34" charset="0"/>
              </a:rPr>
              <a:t>Zamfara</a:t>
            </a:r>
          </a:p>
          <a:p>
            <a:r>
              <a:rPr lang="en-US" sz="1900" dirty="0">
                <a:latin typeface="Tahoma" panose="020B0604030504040204" pitchFamily="34" charset="0"/>
                <a:ea typeface="Tahoma" panose="020B0604030504040204" pitchFamily="34" charset="0"/>
                <a:cs typeface="Tahoma" panose="020B0604030504040204" pitchFamily="34" charset="0"/>
              </a:rPr>
              <a:t>Katsina</a:t>
            </a:r>
          </a:p>
          <a:p>
            <a:r>
              <a:rPr lang="en-US" sz="1900" dirty="0">
                <a:latin typeface="Tahoma" panose="020B0604030504040204" pitchFamily="34" charset="0"/>
                <a:ea typeface="Tahoma" panose="020B0604030504040204" pitchFamily="34" charset="0"/>
                <a:cs typeface="Tahoma" panose="020B0604030504040204" pitchFamily="34" charset="0"/>
              </a:rPr>
              <a:t>These states may require targeted public health interventions such as improved sanitation, water treatment programs, and rapid outbreak response.</a:t>
            </a:r>
          </a:p>
          <a:p>
            <a:endParaRPr lang="en-US" dirty="0"/>
          </a:p>
        </p:txBody>
      </p:sp>
      <p:sp>
        <p:nvSpPr>
          <p:cNvPr id="4" name="Content Placeholder 3">
            <a:extLst>
              <a:ext uri="{FF2B5EF4-FFF2-40B4-BE49-F238E27FC236}">
                <a16:creationId xmlns:a16="http://schemas.microsoft.com/office/drawing/2014/main" id="{B8CE9AD5-0865-3B7C-3AA4-E9568B9AB163}"/>
              </a:ext>
            </a:extLst>
          </p:cNvPr>
          <p:cNvSpPr>
            <a:spLocks noGrp="1"/>
          </p:cNvSpPr>
          <p:nvPr>
            <p:ph sz="half" idx="2"/>
          </p:nvPr>
        </p:nvSpPr>
        <p:spPr>
          <a:xfrm>
            <a:off x="6208712" y="2363372"/>
            <a:ext cx="5797232" cy="4107766"/>
          </a:xfrm>
        </p:spPr>
        <p:txBody>
          <a:bodyPr>
            <a:normAutofit lnSpcReduction="10000"/>
          </a:bodyPr>
          <a:lstStyle/>
          <a:p>
            <a:r>
              <a:rPr lang="en-US" sz="2400" b="1" dirty="0">
                <a:latin typeface="Tahoma" panose="020B0604030504040204" pitchFamily="34" charset="0"/>
                <a:ea typeface="Tahoma" panose="020B0604030504040204" pitchFamily="34" charset="0"/>
                <a:cs typeface="Tahoma" panose="020B0604030504040204" pitchFamily="34" charset="0"/>
              </a:rPr>
              <a:t>Disease Reporting Trend (2010–2018)</a:t>
            </a:r>
          </a:p>
          <a:p>
            <a:r>
              <a:rPr lang="en-US" dirty="0"/>
              <a:t>The line chart illustrates disease reporting trends across years.</a:t>
            </a:r>
          </a:p>
          <a:p>
            <a:r>
              <a:rPr lang="en-US" dirty="0"/>
              <a:t>Key observations:</a:t>
            </a:r>
          </a:p>
          <a:p>
            <a:r>
              <a:rPr lang="en-US" dirty="0"/>
              <a:t>The </a:t>
            </a:r>
            <a:r>
              <a:rPr lang="en-US" b="1" dirty="0"/>
              <a:t>highest disease count occurred around 2015</a:t>
            </a:r>
            <a:r>
              <a:rPr lang="en-US" dirty="0"/>
              <a:t>.</a:t>
            </a:r>
          </a:p>
          <a:p>
            <a:r>
              <a:rPr lang="en-US" dirty="0"/>
              <a:t>There has been a </a:t>
            </a:r>
            <a:r>
              <a:rPr lang="en-US" b="1" dirty="0"/>
              <a:t>gradual decline in reported disease cases towards 2010</a:t>
            </a:r>
            <a:r>
              <a:rPr lang="en-US" dirty="0"/>
              <a:t>.</a:t>
            </a:r>
          </a:p>
          <a:p>
            <a:r>
              <a:rPr lang="en-US" dirty="0"/>
              <a:t>The trend may reflect improvements in healthcare interventions or variations in reporting.</a:t>
            </a:r>
          </a:p>
          <a:p>
            <a:endParaRPr lang="en-US" dirty="0"/>
          </a:p>
        </p:txBody>
      </p:sp>
    </p:spTree>
    <p:extLst>
      <p:ext uri="{BB962C8B-B14F-4D97-AF65-F5344CB8AC3E}">
        <p14:creationId xmlns:p14="http://schemas.microsoft.com/office/powerpoint/2010/main" val="537128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19B1F-2782-D8B8-1BDF-374E49F1F263}"/>
              </a:ext>
            </a:extLst>
          </p:cNvPr>
          <p:cNvSpPr>
            <a:spLocks noGrp="1"/>
          </p:cNvSpPr>
          <p:nvPr>
            <p:ph type="title"/>
          </p:nvPr>
        </p:nvSpPr>
        <p:spPr/>
        <p:txBody>
          <a:bodyPr/>
          <a:lstStyle/>
          <a:p>
            <a:r>
              <a:rPr lang="en-US" sz="4800" b="1" dirty="0">
                <a:latin typeface="Tahoma" panose="020B0604030504040204" pitchFamily="34" charset="0"/>
                <a:ea typeface="Tahoma" panose="020B0604030504040204" pitchFamily="34" charset="0"/>
                <a:cs typeface="Tahoma" panose="020B0604030504040204" pitchFamily="34" charset="0"/>
              </a:rPr>
              <a:t>Key </a:t>
            </a:r>
            <a:r>
              <a:rPr lang="en-US" sz="6000" b="1" dirty="0">
                <a:latin typeface="Tahoma" panose="020B0604030504040204" pitchFamily="34" charset="0"/>
                <a:ea typeface="Tahoma" panose="020B0604030504040204" pitchFamily="34" charset="0"/>
                <a:cs typeface="Tahoma" panose="020B0604030504040204" pitchFamily="34" charset="0"/>
              </a:rPr>
              <a:t>Insights</a:t>
            </a:r>
          </a:p>
        </p:txBody>
      </p:sp>
      <p:sp>
        <p:nvSpPr>
          <p:cNvPr id="4" name="Rectangle 1">
            <a:extLst>
              <a:ext uri="{FF2B5EF4-FFF2-40B4-BE49-F238E27FC236}">
                <a16:creationId xmlns:a16="http://schemas.microsoft.com/office/drawing/2014/main" id="{83A6AF72-117B-473E-D3CF-9C3E1B31891A}"/>
              </a:ext>
            </a:extLst>
          </p:cNvPr>
          <p:cNvSpPr>
            <a:spLocks noGrp="1" noChangeArrowheads="1"/>
          </p:cNvSpPr>
          <p:nvPr>
            <p:ph idx="1"/>
          </p:nvPr>
        </p:nvSpPr>
        <p:spPr bwMode="auto">
          <a:xfrm>
            <a:off x="825307" y="2579903"/>
            <a:ext cx="1021174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Cholera and malaria remain major public health concerns</a:t>
            </a:r>
            <a:r>
              <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across Nigeria.</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Disease occurrences are </a:t>
            </a:r>
            <a:r>
              <a:rPr kumimoji="0" lang="en-US" altLang="en-US" sz="20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almost evenly distributed between urban and rural areas</a:t>
            </a:r>
            <a:r>
              <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Certain states consistently report </a:t>
            </a:r>
            <a:r>
              <a:rPr kumimoji="0" lang="en-US" altLang="en-US" sz="20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higher disease prevalence</a:t>
            </a:r>
            <a:r>
              <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suggesting localized risk factors.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Younger populations appear to be </a:t>
            </a:r>
            <a:r>
              <a:rPr kumimoji="0" lang="en-US" altLang="en-US" sz="20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more affected by disease incidence</a:t>
            </a:r>
            <a:r>
              <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Some diseases have shown </a:t>
            </a:r>
            <a:r>
              <a:rPr kumimoji="0" lang="en-US" altLang="en-US" sz="20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changes in mortality patterns between 2010 and 2018</a:t>
            </a:r>
            <a:r>
              <a:rPr kumimoji="0" lang="en-US" altLang="en-US" sz="20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1449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B378E-DF42-92F9-6100-136963B8E991}"/>
              </a:ext>
            </a:extLst>
          </p:cNvPr>
          <p:cNvSpPr>
            <a:spLocks noGrp="1"/>
          </p:cNvSpPr>
          <p:nvPr>
            <p:ph type="title"/>
          </p:nvPr>
        </p:nvSpPr>
        <p:spPr/>
        <p:txBody>
          <a:bodyPr/>
          <a:lstStyle/>
          <a:p>
            <a:r>
              <a:rPr lang="en-US" sz="6000" dirty="0">
                <a:latin typeface="Tahoma" panose="020B0604030504040204" pitchFamily="34" charset="0"/>
                <a:ea typeface="Tahoma" panose="020B0604030504040204" pitchFamily="34" charset="0"/>
                <a:cs typeface="Tahoma" panose="020B0604030504040204" pitchFamily="34" charset="0"/>
              </a:rPr>
              <a:t>Recommendations</a:t>
            </a:r>
          </a:p>
        </p:txBody>
      </p:sp>
      <p:sp>
        <p:nvSpPr>
          <p:cNvPr id="4" name="Rectangle 1">
            <a:extLst>
              <a:ext uri="{FF2B5EF4-FFF2-40B4-BE49-F238E27FC236}">
                <a16:creationId xmlns:a16="http://schemas.microsoft.com/office/drawing/2014/main" id="{8D144376-B157-5B66-B7AA-8E73A456C5FA}"/>
              </a:ext>
            </a:extLst>
          </p:cNvPr>
          <p:cNvSpPr>
            <a:spLocks noGrp="1" noChangeArrowheads="1"/>
          </p:cNvSpPr>
          <p:nvPr>
            <p:ph idx="1"/>
          </p:nvPr>
        </p:nvSpPr>
        <p:spPr bwMode="auto">
          <a:xfrm>
            <a:off x="1154955" y="2672741"/>
            <a:ext cx="10591568" cy="3277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Strengthen </a:t>
            </a:r>
            <a:r>
              <a:rPr kumimoji="0" lang="en-US" altLang="en-US" sz="1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disease surveillance systems</a:t>
            </a:r>
            <a:r>
              <a:rPr kumimoji="0" lang="en-US" altLang="en-US" sz="1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across all states.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Increase </a:t>
            </a:r>
            <a:r>
              <a:rPr kumimoji="0" lang="en-US" altLang="en-US" sz="1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public health awareness campaigns</a:t>
            </a:r>
            <a:r>
              <a:rPr kumimoji="0" lang="en-US" altLang="en-US" sz="1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especially in high-risk states.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Improve </a:t>
            </a:r>
            <a:r>
              <a:rPr kumimoji="0" lang="en-US" altLang="en-US" sz="1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water sanitation and hygiene (WASH) programs</a:t>
            </a:r>
            <a:r>
              <a:rPr kumimoji="0" lang="en-US" altLang="en-US" sz="1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to reduce cholera outbreaks.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Expand </a:t>
            </a:r>
            <a:r>
              <a:rPr kumimoji="0" lang="en-US" altLang="en-US" sz="1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malaria prevention initiatives</a:t>
            </a:r>
            <a:r>
              <a:rPr kumimoji="0" lang="en-US" altLang="en-US" sz="1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including mosquito control and distribution of insecticide-treated nets.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Enhance </a:t>
            </a:r>
            <a:r>
              <a:rPr kumimoji="0" lang="en-US" altLang="en-US" sz="1800" b="1"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healthcare infrastructure in rural communities</a:t>
            </a:r>
            <a:r>
              <a:rPr kumimoji="0" lang="en-US" altLang="en-US" sz="1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rPr>
              <a:t> to improve early detection and treatment.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7882100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28</TotalTime>
  <Words>529</Words>
  <Application>Microsoft Office PowerPoint</Application>
  <PresentationFormat>Widescreen</PresentationFormat>
  <Paragraphs>69</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Century Gothic</vt:lpstr>
      <vt:lpstr>Tahoma</vt:lpstr>
      <vt:lpstr>Wingdings 3</vt:lpstr>
      <vt:lpstr>Ion Boardroom</vt:lpstr>
      <vt:lpstr>Nigeria Health Analysis</vt:lpstr>
      <vt:lpstr>Overview</vt:lpstr>
      <vt:lpstr>Key Metrics</vt:lpstr>
      <vt:lpstr>Disease Distribution by State</vt:lpstr>
      <vt:lpstr>INSIGHTS</vt:lpstr>
      <vt:lpstr>INSIGHTS</vt:lpstr>
      <vt:lpstr>Key Insights</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4</cp:revision>
  <dcterms:created xsi:type="dcterms:W3CDTF">2026-03-09T14:50:10Z</dcterms:created>
  <dcterms:modified xsi:type="dcterms:W3CDTF">2026-03-09T15:18:16Z</dcterms:modified>
</cp:coreProperties>
</file>